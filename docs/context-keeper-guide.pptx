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このスキルは、Claude Code で長い会話をしたときに、圧縮のあとで話がかみ合わなくなる問題への対策です。今日は、何が起きるのか、どう防ぐのか、使い方、そして今の完成度までを説明します。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会話が長くなると Claude Code は会話全体を要約に置き換えます。要約はファイルやエラーなどの事実をよく残しますが、決定の理由、やめた案、あなたが直した言い回しなどは落ちやすいです。圧縮のあとに同じ提案が繰り返される原因はこれです。左の列は公式ドキュメントの context-window ページの記述に基づいています。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圧縮そのものは Claude Code 本体が行い、スキルから /compact を実行することはできません。そこで、圧縮の前と後に介入します。保存の中身は Claude が判断して書き、通知や退避、読み戻しは、モデルに頼らないフックが担当します。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割合は、自動圧縮が起きるラインに対する値です。1M コンテキストのモデルでは約 967K トークン、200K のモデルでは 200K、/autocompact などで設定した場合はその値が基準です。60、75、90% を越えるたびに、ノートが古ければ保存を促します。ノートが新しいときは何も言いません。残り 10% は、長い自律作業の途中で圧縮されそうなときの最後の一押しです。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ここはあまり細かく説明しなくて構いません。大事なのは、モデルの判断に頼らない部分はフックが担当し、ノートの中身を書く部分だけを Claude が担当する、という役割分担です。フックは失敗しても会話を止めない作りです。止めるのは、手動の /compact を一度だけ止めるときだけです。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作業ログや経緯の羅列は書きません。決定は、理由と却下した代案をセットで1行に書き、IDを付けます。決定を覆すときは、新しい決定に supersedes を付けます。ユーザーの訂正は、言い換えずに原文に近い形で残します。『現在の状態』と『次の一手』だけは、毎回最新に書き換えます。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CLAUDE.md には一切書き込まないので、毎回読み込まれるファイルは増えません。ノートは上限付きで、決定は decisions.md にまとめ、古いものや撤回されたものは archive に1行で移します。作業ノートと原文は git の管理外で、コミットしない限り共有されません。決定ログだけ、共有したければコミットできます。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フックを入れていれば、普段は何もする必要はありません。手動で使うときは、スラッシュコマンドか、言葉で頼みます。引数を付けずに呼ぶと save として動きます。restore は圧縮後や再開時に細部が必要なときに使います。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スキル本体は、~/.claude/skills/context-keeper に clone するだけで入ります。フックは任意で、1回だけ、自分のターミナルで実行します。settings.json の既存の設定は保持され、書き換える前にバックアップが作られます。--dry-run で内容だけ確認できます。Windows では ~ が展開されないため、PowerShell では $HOME を使います。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特に大きかったのは2つです。WSL 上のデスクトップ版ではプラグインが使えないので、フックは settings.json に登録する方式にしました。また、.claude ディレクトリは保護パスで、書き込むたびに許可を求められるため、ノートは .context-keeper に置きました。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直に言うと、完成ではなく、実機検証前の開発版です。自己テストと、実際の会話ログのコピーを使った全フックの呼び出し確認、複数エージェントによる2回のレビューは済んでいます。残っているのは、本物の Claude Code での通しの確認、Windows と macOS での確認、最後の修正後の再レビュー、そして確認結果を反映した改善です。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要点は3つです。何が消えるかを先に決めて、その分だけ残すこと。圧縮の前後はフックに任せ、書くことだけを Claude に任せること。ファイルは上限付きで、毎回読み込まれる CLAUDE.md は増やさないこと。次は実機で確認して、結果を反映して改善します。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14300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</a:pPr>
            <a:r>
              <a:rPr sz="1600" b="1">
                <a:solidFill>
                  <a:srgbClr val="1F5F8B"/>
                </a:solidFill>
                <a:latin typeface="Consolas"/>
                <a:ea typeface="Consolas"/>
                <a:cs typeface="Consolas"/>
              </a:rPr>
              <a:t>context-keeper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5520"/>
              </a:lnSpc>
              <a:spcAft>
                <a:spcPts val="0"/>
              </a:spcAft>
            </a:pPr>
            <a:r>
              <a:rPr sz="4800" b="1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圧縮しても</a:t>
            </a:r>
          </a:p>
          <a:p>
            <a:pPr algn="l">
              <a:lnSpc>
                <a:spcPts val="5520"/>
              </a:lnSpc>
              <a:spcAft>
                <a:spcPts val="0"/>
              </a:spcAft>
            </a:pPr>
            <a:r>
              <a:rPr sz="4800" b="1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「前の話」を忘れない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9326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</a:pPr>
            <a:r>
              <a:rPr sz="2000" b="0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Claude Code のコンテキスト圧縮で消えやすい「決定の理由」「却下した案」「あなたの訂正」を、作業ノートに残して自動で読み戻すスキル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49240"/>
            <a:ext cx="822960" cy="36576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4864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0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Claude Code スキル  ·  2026-10-29  ·  開発版(実機検証前)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</a:pPr>
            <a:r>
              <a:rPr sz="2800" b="1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圧縮した要約は「何をしたか」を残し、「なぜ」を落とす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19" y="1298448"/>
            <a:ext cx="1005840" cy="4572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1000" b="0">
                <a:solidFill>
                  <a:srgbClr val="586473"/>
                </a:solidFill>
                <a:latin typeface="Consolas"/>
                <a:ea typeface="Consolas"/>
                <a:cs typeface="Consolas"/>
              </a:rPr>
              <a:t>context-keeper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</a:pPr>
            <a:r>
              <a:rPr sz="1000" b="0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272887" cy="3977639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73152" cy="3977639"/>
          </a:xfrm>
          <a:prstGeom prst="rect">
            <a:avLst/>
          </a:prstGeom>
          <a:solidFill>
            <a:srgbClr val="1D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6140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</a:pPr>
            <a:r>
              <a:rPr sz="2000" b="1">
                <a:solidFill>
                  <a:srgbClr val="1D7A5F"/>
                </a:solidFill>
                <a:latin typeface="Yu Gothic"/>
                <a:ea typeface="Yu Gothic"/>
                <a:cs typeface="Yu Gothic"/>
              </a:rPr>
              <a:t>要約に残るもの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861407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250"/>
              </a:lnSpc>
              <a:spcAft>
                <a:spcPts val="900"/>
              </a:spcAft>
            </a:pPr>
            <a:r>
              <a:rPr sz="18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・依頼の内容と意図</a:t>
            </a:r>
          </a:p>
          <a:p>
            <a:pPr algn="l">
              <a:lnSpc>
                <a:spcPts val="2250"/>
              </a:lnSpc>
              <a:spcAft>
                <a:spcPts val="900"/>
              </a:spcAft>
            </a:pPr>
            <a:r>
              <a:rPr sz="18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・読んだ・変更したファイルと重要なコード</a:t>
            </a:r>
          </a:p>
          <a:p>
            <a:pPr algn="l">
              <a:lnSpc>
                <a:spcPts val="2250"/>
              </a:lnSpc>
              <a:spcAft>
                <a:spcPts val="900"/>
              </a:spcAft>
            </a:pPr>
            <a:r>
              <a:rPr sz="18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・エラーとその直し方</a:t>
            </a:r>
          </a:p>
          <a:p>
            <a:pPr algn="l">
              <a:lnSpc>
                <a:spcPts val="2250"/>
              </a:lnSpc>
              <a:spcAft>
                <a:spcPts val="900"/>
              </a:spcAft>
            </a:pPr>
            <a:r>
              <a:rPr sz="18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・残りのタスクと、今の作業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691640"/>
            <a:ext cx="5272887" cy="3977639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691640"/>
            <a:ext cx="73152" cy="3977639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1828800"/>
            <a:ext cx="486140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</a:pPr>
            <a:r>
              <a:rPr sz="2000" b="1">
                <a:solidFill>
                  <a:srgbClr val="B4432B"/>
                </a:solidFill>
                <a:latin typeface="Yu Gothic"/>
                <a:ea typeface="Yu Gothic"/>
                <a:cs typeface="Yu Gothic"/>
              </a:rPr>
              <a:t>落ちやすいもの(このスキルが残す)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2468880"/>
            <a:ext cx="4861407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250"/>
              </a:lnSpc>
              <a:spcAft>
                <a:spcPts val="900"/>
              </a:spcAft>
            </a:pPr>
            <a:r>
              <a:rPr sz="18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・決定の「理由」と、比べた代案</a:t>
            </a:r>
          </a:p>
          <a:p>
            <a:pPr algn="l">
              <a:lnSpc>
                <a:spcPts val="2250"/>
              </a:lnSpc>
              <a:spcAft>
                <a:spcPts val="900"/>
              </a:spcAft>
            </a:pPr>
            <a:r>
              <a:rPr sz="18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・却下した案と、その理由</a:t>
            </a:r>
          </a:p>
          <a:p>
            <a:pPr algn="l">
              <a:lnSpc>
                <a:spcPts val="2250"/>
              </a:lnSpc>
              <a:spcAft>
                <a:spcPts val="900"/>
              </a:spcAft>
            </a:pPr>
            <a:r>
              <a:rPr sz="18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・あなたの訂正や好み(「X ではなく Y」)</a:t>
            </a:r>
          </a:p>
          <a:p>
            <a:pPr algn="l">
              <a:lnSpc>
                <a:spcPts val="2250"/>
              </a:lnSpc>
              <a:spcAft>
                <a:spcPts val="900"/>
              </a:spcAft>
            </a:pPr>
            <a:r>
              <a:rPr sz="18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・口頭で伝えた制約(期限・使わないもの)</a:t>
            </a:r>
          </a:p>
          <a:p>
            <a:pPr algn="l">
              <a:lnSpc>
                <a:spcPts val="2250"/>
              </a:lnSpc>
              <a:spcAft>
                <a:spcPts val="900"/>
              </a:spcAft>
            </a:pPr>
            <a:r>
              <a:rPr sz="18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・途中の判断と、未解決の質問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</a:pPr>
            <a:r>
              <a:rPr sz="1200" b="0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左の列の出典: Claude Code 公式ドキュメント(context-window)。圧縮後は、ツール出力の全文と途中の推論も失われる。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</a:pPr>
            <a:r>
              <a:rPr sz="2800" b="1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考え方: 圧縮の前に退避し、圧縮のあとに戻す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19" y="1298448"/>
            <a:ext cx="1005840" cy="4572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1000" b="0">
                <a:solidFill>
                  <a:srgbClr val="586473"/>
                </a:solidFill>
                <a:latin typeface="Consolas"/>
                <a:ea typeface="Consolas"/>
                <a:cs typeface="Consolas"/>
              </a:rPr>
              <a:t>context-keeper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</a:pPr>
            <a:r>
              <a:rPr sz="1000" b="0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393338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3393338" cy="822960"/>
          </a:xfrm>
          <a:prstGeom prst="rect">
            <a:avLst/>
          </a:prstGeom>
          <a:solidFill>
            <a:srgbClr val="E3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28800"/>
            <a:ext cx="302757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3379"/>
              </a:lnSpc>
              <a:spcAft>
                <a:spcPts val="0"/>
              </a:spcAft>
            </a:pPr>
            <a:r>
              <a:rPr sz="2600" b="1">
                <a:solidFill>
                  <a:srgbClr val="1F5F8B"/>
                </a:solidFill>
                <a:latin typeface="Yu Gothic"/>
                <a:ea typeface="Yu Gothic"/>
                <a:cs typeface="Yu Gothic"/>
              </a:rPr>
              <a:t>1  保存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97480"/>
            <a:ext cx="3027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1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圧縮の前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108960"/>
            <a:ext cx="302757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300"/>
              </a:lnSpc>
              <a:spcAft>
                <a:spcPts val="0"/>
              </a:spcAft>
            </a:pPr>
            <a:r>
              <a:rPr sz="17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Claude が作業ノートを書く。要約で落ちるものだけを残す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88282" y="3017520"/>
            <a:ext cx="256032" cy="457200"/>
          </a:xfrm>
          <a:prstGeom prst="rightArrow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783080"/>
            <a:ext cx="3393338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99178" y="1783080"/>
            <a:ext cx="3393338" cy="822960"/>
          </a:xfrm>
          <a:prstGeom prst="rect">
            <a:avLst/>
          </a:prstGeom>
          <a:solidFill>
            <a:srgbClr val="FBF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2058" y="1828800"/>
            <a:ext cx="302757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3379"/>
              </a:lnSpc>
              <a:spcAft>
                <a:spcPts val="0"/>
              </a:spcAft>
            </a:pPr>
            <a:r>
              <a:rPr sz="2600" b="1">
                <a:solidFill>
                  <a:srgbClr val="9A6A00"/>
                </a:solidFill>
                <a:latin typeface="Yu Gothic"/>
                <a:ea typeface="Yu Gothic"/>
                <a:cs typeface="Yu Gothic"/>
              </a:rPr>
              <a:t>2  退避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2058" y="2697480"/>
            <a:ext cx="3027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1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圧縮の直前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2058" y="3108960"/>
            <a:ext cx="302757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300"/>
              </a:lnSpc>
              <a:spcAft>
                <a:spcPts val="0"/>
              </a:spcAft>
            </a:pPr>
            <a:r>
              <a:rPr sz="17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あなたの発言と Claude の返答を、原文のまま raw/ に保存する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47380" y="3017520"/>
            <a:ext cx="256032" cy="457200"/>
          </a:xfrm>
          <a:prstGeom prst="rightArrow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8276" y="1783080"/>
            <a:ext cx="3393338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8276" y="1783080"/>
            <a:ext cx="3393338" cy="822960"/>
          </a:xfrm>
          <a:prstGeom prst="rect">
            <a:avLst/>
          </a:prstGeom>
          <a:solidFill>
            <a:srgbClr val="E1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1156" y="1828800"/>
            <a:ext cx="302757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3379"/>
              </a:lnSpc>
              <a:spcAft>
                <a:spcPts val="0"/>
              </a:spcAft>
            </a:pPr>
            <a:r>
              <a:rPr sz="2600" b="1">
                <a:solidFill>
                  <a:srgbClr val="1D7A5F"/>
                </a:solidFill>
                <a:latin typeface="Yu Gothic"/>
                <a:ea typeface="Yu Gothic"/>
                <a:cs typeface="Yu Gothic"/>
              </a:rPr>
              <a:t>3  復元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1156" y="2697480"/>
            <a:ext cx="3027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1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圧縮の直後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1156" y="3108960"/>
            <a:ext cx="302757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300"/>
              </a:lnSpc>
              <a:spcAft>
                <a:spcPts val="0"/>
              </a:spcAft>
            </a:pPr>
            <a:r>
              <a:rPr sz="17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ノートの要点を「再開カード」にして、自動で読み込ませる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29200"/>
            <a:ext cx="10911535" cy="1005840"/>
          </a:xfrm>
          <a:prstGeom prst="rect">
            <a:avLst/>
          </a:prstGeom>
          <a:solidFill>
            <a:srgbClr val="E3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029200"/>
            <a:ext cx="73152" cy="100584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074920"/>
            <a:ext cx="1045433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</a:pPr>
            <a:r>
              <a:rPr sz="17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圧縮そのものは Claude Code 本体の仕事で、スキルからは実行できない。だから「前」と「後」に介入する。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</a:pPr>
            <a:r>
              <a:rPr sz="2800" b="1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使用率に応じて、ターンの終わりに保存を促す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19" y="1298448"/>
            <a:ext cx="1005840" cy="4572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1000" b="0">
                <a:solidFill>
                  <a:srgbClr val="586473"/>
                </a:solidFill>
                <a:latin typeface="Consolas"/>
                <a:ea typeface="Consolas"/>
                <a:cs typeface="Consolas"/>
              </a:rPr>
              <a:t>context-keeper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</a:pPr>
            <a:r>
              <a:rPr sz="1000" b="0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48840"/>
            <a:ext cx="6217737" cy="384048"/>
          </a:xfrm>
          <a:prstGeom prst="rect">
            <a:avLst/>
          </a:prstGeom>
          <a:solidFill>
            <a:srgbClr val="E3EEF6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137" y="2148840"/>
            <a:ext cx="3108868" cy="384048"/>
          </a:xfrm>
          <a:prstGeom prst="rect">
            <a:avLst/>
          </a:prstGeom>
          <a:solidFill>
            <a:srgbClr val="FBF0D4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41005" y="2148840"/>
            <a:ext cx="1036289" cy="384048"/>
          </a:xfrm>
          <a:prstGeom prst="rect">
            <a:avLst/>
          </a:prstGeom>
          <a:solidFill>
            <a:srgbClr val="F8E6E1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18421" y="2011680"/>
            <a:ext cx="27432" cy="658368"/>
          </a:xfrm>
          <a:prstGeom prst="rect">
            <a:avLst/>
          </a:prstGeom>
          <a:solidFill>
            <a:srgbClr val="18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497" y="271576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</a:pPr>
            <a:r>
              <a:rPr sz="1600" b="1">
                <a:solidFill>
                  <a:srgbClr val="18212B"/>
                </a:solidFill>
                <a:latin typeface="Consolas"/>
                <a:ea typeface="Consolas"/>
                <a:cs typeface="Consolas"/>
              </a:rPr>
              <a:t>60%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72855" y="2011680"/>
            <a:ext cx="27432" cy="658368"/>
          </a:xfrm>
          <a:prstGeom prst="rect">
            <a:avLst/>
          </a:prstGeom>
          <a:solidFill>
            <a:srgbClr val="18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7931" y="271576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</a:pPr>
            <a:r>
              <a:rPr sz="1600" b="1">
                <a:solidFill>
                  <a:srgbClr val="18212B"/>
                </a:solidFill>
                <a:latin typeface="Consolas"/>
                <a:ea typeface="Consolas"/>
                <a:cs typeface="Consolas"/>
              </a:rPr>
              <a:t>75%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27289" y="2011680"/>
            <a:ext cx="27432" cy="658368"/>
          </a:xfrm>
          <a:prstGeom prst="rect">
            <a:avLst/>
          </a:prstGeom>
          <a:solidFill>
            <a:srgbClr val="18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365" y="271576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</a:pPr>
            <a:r>
              <a:rPr sz="1600" b="1">
                <a:solidFill>
                  <a:srgbClr val="18212B"/>
                </a:solidFill>
                <a:latin typeface="Consolas"/>
                <a:ea typeface="Consolas"/>
                <a:cs typeface="Consolas"/>
              </a:rPr>
              <a:t>90%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263579" y="2011680"/>
            <a:ext cx="45720" cy="658368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28655" y="271576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</a:pPr>
            <a:r>
              <a:rPr sz="1600" b="1">
                <a:solidFill>
                  <a:srgbClr val="B4432B"/>
                </a:solidFill>
                <a:latin typeface="Consolas"/>
                <a:ea typeface="Consolas"/>
                <a:cs typeface="Consolas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1554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89"/>
              </a:lnSpc>
              <a:spcAft>
                <a:spcPts val="0"/>
              </a:spcAft>
            </a:pPr>
            <a:r>
              <a:rPr sz="1300" b="1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コンテキスト使用率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8495" y="30632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ts val="1689"/>
              </a:lnSpc>
              <a:spcAft>
                <a:spcPts val="0"/>
              </a:spcAft>
            </a:pPr>
            <a:r>
              <a:rPr sz="1300" b="1">
                <a:solidFill>
                  <a:srgbClr val="B4432B"/>
                </a:solidFill>
                <a:latin typeface="Yu Gothic"/>
                <a:ea typeface="Yu Gothic"/>
                <a:cs typeface="Yu Gothic"/>
              </a:rPr>
              <a:t>自動圧縮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57600"/>
            <a:ext cx="10911535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657600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</a:pPr>
            <a:r>
              <a:rPr sz="1600" b="1">
                <a:solidFill>
                  <a:srgbClr val="1F5F8B"/>
                </a:solidFill>
                <a:latin typeface="Consolas"/>
                <a:ea typeface="Consolas"/>
                <a:cs typeface="Consolas"/>
              </a:rPr>
              <a:t>60% / 75% / 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657600"/>
            <a:ext cx="771113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80"/>
              </a:lnSpc>
              <a:spcAft>
                <a:spcPts val="0"/>
              </a:spcAft>
            </a:pPr>
            <a:r>
              <a:rPr sz="15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ターンの終わりに、Claude へ保存を促す。ノートが古いときだけ。あなたにも通知が出る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407408"/>
            <a:ext cx="10911535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4407408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</a:pPr>
            <a:r>
              <a:rPr sz="1600" b="1">
                <a:solidFill>
                  <a:srgbClr val="1F5F8B"/>
                </a:solidFill>
                <a:latin typeface="Consolas"/>
                <a:ea typeface="Consolas"/>
                <a:cs typeface="Consolas"/>
              </a:rPr>
              <a:t>残り 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407408"/>
            <a:ext cx="771113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80"/>
              </a:lnSpc>
              <a:spcAft>
                <a:spcPts val="0"/>
              </a:spcAft>
            </a:pPr>
            <a:r>
              <a:rPr sz="15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作業の途中でも、一度だけ保存を促す。保存後は中断した作業に戻る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157216"/>
            <a:ext cx="10911535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5157216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</a:pPr>
            <a:r>
              <a:rPr sz="1600" b="1">
                <a:solidFill>
                  <a:srgbClr val="1F5F8B"/>
                </a:solidFill>
                <a:latin typeface="Consolas"/>
                <a:ea typeface="Consolas"/>
                <a:cs typeface="Consolas"/>
              </a:rPr>
              <a:t>基準になる「100%」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157216"/>
            <a:ext cx="771113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80"/>
              </a:lnSpc>
              <a:spcAft>
                <a:spcPts val="0"/>
              </a:spcAft>
            </a:pPr>
            <a:r>
              <a:rPr sz="15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1M モデルは約 967K、200K モデルは 200K、設定した場合はその値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</a:pPr>
            <a:r>
              <a:rPr sz="2800" b="1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通知・退避・復元は、フックが自動で行う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19" y="1298448"/>
            <a:ext cx="1005840" cy="4572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1000" b="0">
                <a:solidFill>
                  <a:srgbClr val="586473"/>
                </a:solidFill>
                <a:latin typeface="Consolas"/>
                <a:ea typeface="Consolas"/>
                <a:cs typeface="Consolas"/>
              </a:rPr>
              <a:t>context-keeper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</a:pPr>
            <a:r>
              <a:rPr sz="1000" b="0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911535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2743200"/>
                <a:gridCol w="5790895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8212B"/>
                          </a:solidFill>
                          <a:latin typeface="Yu Gothic"/>
                        </a:rPr>
                        <a:t>フック</a:t>
                      </a:r>
                    </a:p>
                  </a:txBody>
                  <a:tcPr anchor="ctr" marL="137160" marR="137160">
                    <a:solidFill>
                      <a:srgbClr val="E3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8212B"/>
                          </a:solidFill>
                          <a:latin typeface="Yu Gothic"/>
                        </a:rPr>
                        <a:t>タイミング</a:t>
                      </a:r>
                    </a:p>
                  </a:txBody>
                  <a:tcPr anchor="ctr" marL="137160" marR="137160">
                    <a:solidFill>
                      <a:srgbClr val="E3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8212B"/>
                          </a:solidFill>
                          <a:latin typeface="Yu Gothic"/>
                        </a:rPr>
                        <a:t>担当</a:t>
                      </a:r>
                    </a:p>
                  </a:txBody>
                  <a:tcPr anchor="ctr" marL="137160" marR="137160">
                    <a:solidFill>
                      <a:srgbClr val="E3EE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5F8B"/>
                          </a:solidFill>
                          <a:latin typeface="Consolas"/>
                        </a:rPr>
                        <a:t>Stop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Yu Gothic"/>
                        </a:rPr>
                        <a:t>ターンの終わり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Yu Gothic"/>
                        </a:rPr>
                        <a:t>60 / 75 / 90% の通知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5F8B"/>
                          </a:solidFill>
                          <a:latin typeface="Consolas"/>
                        </a:rPr>
                        <a:t>PostToolBatch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Yu Gothic"/>
                        </a:rPr>
                        <a:t>ツール実行のまとまりごと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Yu Gothic"/>
                        </a:rPr>
                        <a:t>残り 10% の緊急通知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5F8B"/>
                          </a:solidFill>
                          <a:latin typeface="Consolas"/>
                        </a:rPr>
                        <a:t>PreCompact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Yu Gothic"/>
                        </a:rPr>
                        <a:t>圧縮の直前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Yu Gothic"/>
                        </a:rPr>
                        <a:t>原文の退避。手動 /compact は、ノートが古ければ一度だけ止める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5F8B"/>
                          </a:solidFill>
                          <a:latin typeface="Consolas"/>
                        </a:rPr>
                        <a:t>PostCompact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Yu Gothic"/>
                        </a:rPr>
                        <a:t>圧縮の直後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Yu Gothic"/>
                        </a:rPr>
                        <a:t>圧縮要約の保存、通知のリセット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5F8B"/>
                          </a:solidFill>
                          <a:latin typeface="Consolas"/>
                        </a:rPr>
                        <a:t>SessionStart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Yu Gothic"/>
                        </a:rPr>
                        <a:t>起動・再開・圧縮後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Yu Gothic"/>
                        </a:rPr>
                        <a:t>再開カードの注入、過去ノートの案内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5F8B"/>
                          </a:solidFill>
                          <a:latin typeface="Consolas"/>
                        </a:rPr>
                        <a:t>PostModelSwitch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Yu Gothic"/>
                        </a:rPr>
                        <a:t>モデル切り替え時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Yu Gothic"/>
                        </a:rPr>
                        <a:t>1M コンテキストかどうかの判定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0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ノートの中身を書くのは、Claude(スキル本体)。それ以外はモデルに頼らず、フックが行う。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</a:pPr>
            <a:r>
              <a:rPr sz="2800" b="1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ノートには、要約で落ちるものだけを書く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19" y="1298448"/>
            <a:ext cx="1005840" cy="4572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1000" b="0">
                <a:solidFill>
                  <a:srgbClr val="586473"/>
                </a:solidFill>
                <a:latin typeface="Consolas"/>
                <a:ea typeface="Consolas"/>
                <a:cs typeface="Consolas"/>
              </a:rPr>
              <a:t>context-keeper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</a:pPr>
            <a:r>
              <a:rPr sz="1000" b="0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EEF1F5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84632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680"/>
              </a:lnSpc>
              <a:spcAft>
                <a:spcPts val="300"/>
              </a:spcAft>
            </a:pPr>
            <a:r>
              <a:rPr sz="1400" b="0">
                <a:solidFill>
                  <a:srgbClr val="18212B"/>
                </a:solidFill>
                <a:latin typeface="Consolas"/>
                <a:ea typeface="Consolas"/>
                <a:cs typeface="Consolas"/>
              </a:rPr>
              <a:t>## 目的</a:t>
            </a:r>
          </a:p>
          <a:p>
            <a:pPr algn="l">
              <a:lnSpc>
                <a:spcPts val="1680"/>
              </a:lnSpc>
              <a:spcAft>
                <a:spcPts val="300"/>
              </a:spcAft>
            </a:pPr>
            <a:r>
              <a:rPr sz="1400" b="0">
                <a:solidFill>
                  <a:srgbClr val="1F5F8B"/>
                </a:solidFill>
                <a:latin typeface="Consolas"/>
                <a:ea typeface="Consolas"/>
                <a:cs typeface="Consolas"/>
              </a:rPr>
              <a:t>## 決定と理由</a:t>
            </a:r>
          </a:p>
          <a:p>
            <a:pPr algn="l">
              <a:lnSpc>
                <a:spcPts val="1680"/>
              </a:lnSpc>
              <a:spcAft>
                <a:spcPts val="300"/>
              </a:spcAft>
            </a:pPr>
            <a:r>
              <a:rPr sz="1400" b="0">
                <a:solidFill>
                  <a:srgbClr val="18212B"/>
                </a:solidFill>
                <a:latin typeface="Consolas"/>
                <a:ea typeface="Consolas"/>
                <a:cs typeface="Consolas"/>
              </a:rPr>
              <a:t>## 却下した案</a:t>
            </a:r>
          </a:p>
          <a:p>
            <a:pPr algn="l">
              <a:lnSpc>
                <a:spcPts val="1680"/>
              </a:lnSpc>
              <a:spcAft>
                <a:spcPts val="300"/>
              </a:spcAft>
            </a:pPr>
            <a:r>
              <a:rPr sz="1400" b="0">
                <a:solidFill>
                  <a:srgbClr val="1F5F8B"/>
                </a:solidFill>
                <a:latin typeface="Consolas"/>
                <a:ea typeface="Consolas"/>
                <a:cs typeface="Consolas"/>
              </a:rPr>
              <a:t>## ユーザーの訂正・好み</a:t>
            </a:r>
          </a:p>
          <a:p>
            <a:pPr algn="l">
              <a:lnSpc>
                <a:spcPts val="1680"/>
              </a:lnSpc>
              <a:spcAft>
                <a:spcPts val="300"/>
              </a:spcAft>
            </a:pPr>
            <a:r>
              <a:rPr sz="1400" b="0">
                <a:solidFill>
                  <a:srgbClr val="18212B"/>
                </a:solidFill>
                <a:latin typeface="Consolas"/>
                <a:ea typeface="Consolas"/>
                <a:cs typeface="Consolas"/>
              </a:rPr>
              <a:t>## 制約</a:t>
            </a:r>
          </a:p>
          <a:p>
            <a:pPr algn="l">
              <a:lnSpc>
                <a:spcPts val="1680"/>
              </a:lnSpc>
              <a:spcAft>
                <a:spcPts val="300"/>
              </a:spcAft>
            </a:pPr>
            <a:r>
              <a:rPr sz="1400" b="0">
                <a:solidFill>
                  <a:srgbClr val="18212B"/>
                </a:solidFill>
                <a:latin typeface="Consolas"/>
                <a:ea typeface="Consolas"/>
                <a:cs typeface="Consolas"/>
              </a:rPr>
              <a:t>## 用語</a:t>
            </a:r>
          </a:p>
          <a:p>
            <a:pPr algn="l">
              <a:lnSpc>
                <a:spcPts val="1680"/>
              </a:lnSpc>
              <a:spcAft>
                <a:spcPts val="300"/>
              </a:spcAft>
            </a:pPr>
            <a:r>
              <a:rPr sz="1400" b="0">
                <a:solidFill>
                  <a:srgbClr val="9A6A00"/>
                </a:solidFill>
                <a:latin typeface="Consolas"/>
                <a:ea typeface="Consolas"/>
                <a:cs typeface="Consolas"/>
              </a:rPr>
              <a:t>## 現在の状態</a:t>
            </a:r>
          </a:p>
          <a:p>
            <a:pPr algn="l">
              <a:lnSpc>
                <a:spcPts val="1680"/>
              </a:lnSpc>
              <a:spcAft>
                <a:spcPts val="300"/>
              </a:spcAft>
            </a:pPr>
            <a:r>
              <a:rPr sz="1400" b="0">
                <a:solidFill>
                  <a:srgbClr val="9A6A00"/>
                </a:solidFill>
                <a:latin typeface="Consolas"/>
                <a:ea typeface="Consolas"/>
                <a:cs typeface="Consolas"/>
              </a:rPr>
              <a:t>## 次の一手</a:t>
            </a:r>
          </a:p>
          <a:p>
            <a:pPr algn="l">
              <a:lnSpc>
                <a:spcPts val="1680"/>
              </a:lnSpc>
              <a:spcAft>
                <a:spcPts val="300"/>
              </a:spcAft>
            </a:pPr>
            <a:r>
              <a:rPr sz="1400" b="0">
                <a:solidFill>
                  <a:srgbClr val="18212B"/>
                </a:solidFill>
                <a:latin typeface="Consolas"/>
                <a:ea typeface="Consolas"/>
                <a:cs typeface="Consolas"/>
              </a:rPr>
              <a:t>## 未解決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691640"/>
            <a:ext cx="5516575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691640"/>
            <a:ext cx="73152" cy="233172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783080"/>
            <a:ext cx="5150815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950"/>
              </a:lnSpc>
              <a:spcAft>
                <a:spcPts val="600"/>
              </a:spcAft>
            </a:pPr>
            <a:r>
              <a:rPr sz="1500" b="1">
                <a:solidFill>
                  <a:srgbClr val="1F5F8B"/>
                </a:solidFill>
                <a:latin typeface="Yu Gothic"/>
                <a:ea typeface="Yu Gothic"/>
                <a:cs typeface="Yu Gothic"/>
              </a:rPr>
              <a:t>決定は、理由と却下した案をセットで書く</a:t>
            </a:r>
          </a:p>
          <a:p>
            <a:pPr algn="l">
              <a:lnSpc>
                <a:spcPts val="1560"/>
              </a:lnSpc>
              <a:spcAft>
                <a:spcPts val="0"/>
              </a:spcAft>
            </a:pPr>
            <a:r>
              <a:rPr sz="1300" b="0">
                <a:solidFill>
                  <a:srgbClr val="18212B"/>
                </a:solidFill>
                <a:latin typeface="Consolas"/>
                <a:ea typeface="Consolas"/>
                <a:cs typeface="Consolas"/>
              </a:rPr>
              <a:t>- [D-20261022-ab12-1] 時系列で分割する</a:t>
            </a:r>
          </a:p>
          <a:p>
            <a:pPr algn="l">
              <a:lnSpc>
                <a:spcPts val="1560"/>
              </a:lnSpc>
              <a:spcAft>
                <a:spcPts val="0"/>
              </a:spcAft>
            </a:pPr>
            <a:r>
              <a:rPr sz="1300" b="0">
                <a:solidFill>
                  <a:srgbClr val="18212B"/>
                </a:solidFill>
                <a:latin typeface="Consolas"/>
                <a:ea typeface="Consolas"/>
                <a:cs typeface="Consolas"/>
              </a:rPr>
              <a:t>  — 理由: リークを防ぐ</a:t>
            </a:r>
          </a:p>
          <a:p>
            <a:pPr algn="l">
              <a:lnSpc>
                <a:spcPts val="1560"/>
              </a:lnSpc>
              <a:spcAft>
                <a:spcPts val="0"/>
              </a:spcAft>
            </a:pPr>
            <a:r>
              <a:rPr sz="1300" b="0">
                <a:solidFill>
                  <a:srgbClr val="18212B"/>
                </a:solidFill>
                <a:latin typeface="Consolas"/>
                <a:ea typeface="Consolas"/>
                <a:cs typeface="Consolas"/>
              </a:rPr>
              <a:t>  — 却下: ランダム分割(未来の情報が混ざる)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4160520"/>
            <a:ext cx="5516575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4160520"/>
            <a:ext cx="73152" cy="1828800"/>
          </a:xfrm>
          <a:prstGeom prst="rect">
            <a:avLst/>
          </a:prstGeom>
          <a:solidFill>
            <a:srgbClr val="9A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251960"/>
            <a:ext cx="5150815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9A6A00"/>
                </a:solidFill>
                <a:latin typeface="Yu Gothic"/>
                <a:ea typeface="Yu Gothic"/>
                <a:cs typeface="Yu Gothic"/>
              </a:rPr>
              <a:t>書き方のルール</a:t>
            </a:r>
          </a:p>
          <a:p>
            <a:pPr algn="l">
              <a:lnSpc>
                <a:spcPts val="1820"/>
              </a:lnSpc>
              <a:spcAft>
                <a:spcPts val="200"/>
              </a:spcAft>
            </a:pPr>
            <a:r>
              <a:rPr sz="14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・訂正や好みは、言い換えず原文に近い形で</a:t>
            </a:r>
          </a:p>
          <a:p>
            <a:pPr algn="l">
              <a:lnSpc>
                <a:spcPts val="1820"/>
              </a:lnSpc>
              <a:spcAft>
                <a:spcPts val="200"/>
              </a:spcAft>
            </a:pPr>
            <a:r>
              <a:rPr sz="14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・決定を覆すときは (supersedes: 古いID)</a:t>
            </a:r>
          </a:p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・「現在の状態」「次の一手」は毎回書き換える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</a:pPr>
            <a:r>
              <a:rPr sz="2800" b="1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ファイルは増え続けない: 上限と自動整理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19" y="1298448"/>
            <a:ext cx="1005840" cy="4572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1000" b="0">
                <a:solidFill>
                  <a:srgbClr val="586473"/>
                </a:solidFill>
                <a:latin typeface="Consolas"/>
                <a:ea typeface="Consolas"/>
                <a:cs typeface="Consolas"/>
              </a:rPr>
              <a:t>context-keeper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</a:pPr>
            <a:r>
              <a:rPr sz="1000" b="0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8521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91640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sz="1400" b="1">
                <a:solidFill>
                  <a:srgbClr val="1F5F8B"/>
                </a:solidFill>
                <a:latin typeface="Yu Gothic"/>
                <a:ea typeface="Yu Gothic"/>
                <a:cs typeface="Yu Gothic"/>
              </a:rPr>
              <a:t>CLAUDE.md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9164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620"/>
              </a:lnSpc>
              <a:spcAft>
                <a:spcPts val="0"/>
              </a:spcAft>
            </a:pPr>
            <a:r>
              <a:rPr sz="13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一切書き込まない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32888"/>
            <a:ext cx="58521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53288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sz="1400" b="1">
                <a:solidFill>
                  <a:srgbClr val="1F5F8B"/>
                </a:solidFill>
                <a:latin typeface="Yu Gothic"/>
                <a:ea typeface="Yu Gothic"/>
                <a:cs typeface="Yu Gothic"/>
              </a:rPr>
              <a:t>ノート 5,000 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532888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620"/>
              </a:lnSpc>
              <a:spcAft>
                <a:spcPts val="0"/>
              </a:spcAft>
            </a:pPr>
            <a:r>
              <a:rPr sz="13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超えたら古い記述を要約。8,000 字で保存を拒否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74136"/>
            <a:ext cx="58521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374136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sz="1400" b="1">
                <a:solidFill>
                  <a:srgbClr val="1F5F8B"/>
                </a:solidFill>
                <a:latin typeface="Yu Gothic"/>
                <a:ea typeface="Yu Gothic"/>
                <a:cs typeface="Yu Gothic"/>
              </a:rPr>
              <a:t>再開カード 約 6,000 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374136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620"/>
              </a:lnSpc>
              <a:spcAft>
                <a:spcPts val="0"/>
              </a:spcAft>
            </a:pPr>
            <a:r>
              <a:rPr sz="13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「現在の状態」「次の一手」「訂正」の順に詰める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15384"/>
            <a:ext cx="58521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215384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sz="1400" b="1">
                <a:solidFill>
                  <a:srgbClr val="1F5F8B"/>
                </a:solidFill>
                <a:latin typeface="Yu Gothic"/>
                <a:ea typeface="Yu Gothic"/>
                <a:cs typeface="Yu Gothic"/>
              </a:rPr>
              <a:t>決定ログ 200 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215384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620"/>
              </a:lnSpc>
              <a:spcAft>
                <a:spcPts val="0"/>
              </a:spcAft>
            </a:pPr>
            <a:r>
              <a:rPr sz="13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新しい 150 件を残し、古い決定と撤回済みは archive/ へ1行で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056632"/>
            <a:ext cx="58521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5056632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sz="1400" b="1">
                <a:solidFill>
                  <a:srgbClr val="1F5F8B"/>
                </a:solidFill>
                <a:latin typeface="Yu Gothic"/>
                <a:ea typeface="Yu Gothic"/>
                <a:cs typeface="Yu Gothic"/>
              </a:rPr>
              <a:t>原文 raw/ ・ state/ 30 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056632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620"/>
              </a:lnSpc>
              <a:spcAft>
                <a:spcPts val="0"/>
              </a:spcAft>
            </a:pPr>
            <a:r>
              <a:rPr sz="13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30 日より古いものは自動で削除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80" y="1691640"/>
            <a:ext cx="4739335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1783080"/>
            <a:ext cx="44650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1">
                <a:solidFill>
                  <a:srgbClr val="1F5F8B"/>
                </a:solidFill>
                <a:latin typeface="Consolas"/>
                <a:ea typeface="Consolas"/>
                <a:cs typeface="Consolas"/>
              </a:rPr>
              <a:t>&lt;project&gt;/.context-keeper/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286000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1">
                <a:solidFill>
                  <a:srgbClr val="18212B"/>
                </a:solidFill>
                <a:latin typeface="Consolas"/>
                <a:ea typeface="Consolas"/>
                <a:cs typeface="Consolas"/>
              </a:rPr>
              <a:t>sessions/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286000"/>
            <a:ext cx="1280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490"/>
              </a:lnSpc>
              <a:spcAft>
                <a:spcPts val="0"/>
              </a:spcAft>
            </a:pPr>
            <a:r>
              <a:rPr sz="13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作業ノート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37215" y="2414016"/>
            <a:ext cx="731520" cy="310896"/>
          </a:xfrm>
          <a:prstGeom prst="roundRect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37215" y="2414016"/>
            <a:ext cx="73152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</a:pPr>
            <a:r>
              <a:rPr sz="1100" b="1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無視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2962656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1">
                <a:solidFill>
                  <a:srgbClr val="18212B"/>
                </a:solidFill>
                <a:latin typeface="Consolas"/>
                <a:ea typeface="Consolas"/>
                <a:cs typeface="Consolas"/>
              </a:rPr>
              <a:t>decisions.md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962656"/>
            <a:ext cx="1280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490"/>
              </a:lnSpc>
              <a:spcAft>
                <a:spcPts val="0"/>
              </a:spcAft>
            </a:pPr>
            <a:r>
              <a:rPr sz="13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決定ログ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37215" y="3090672"/>
            <a:ext cx="731520" cy="310896"/>
          </a:xfrm>
          <a:prstGeom prst="roundRect">
            <a:avLst/>
          </a:prstGeom>
          <a:solidFill>
            <a:srgbClr val="E1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37215" y="3090672"/>
            <a:ext cx="73152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</a:pPr>
            <a:r>
              <a:rPr sz="1100" b="1">
                <a:solidFill>
                  <a:srgbClr val="1D7A5F"/>
                </a:solidFill>
                <a:latin typeface="Yu Gothic"/>
                <a:ea typeface="Yu Gothic"/>
                <a:cs typeface="Yu Gothic"/>
              </a:rPr>
              <a:t>共有可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3639312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1">
                <a:solidFill>
                  <a:srgbClr val="18212B"/>
                </a:solidFill>
                <a:latin typeface="Consolas"/>
                <a:ea typeface="Consolas"/>
                <a:cs typeface="Consolas"/>
              </a:rPr>
              <a:t>archive/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3639312"/>
            <a:ext cx="1280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490"/>
              </a:lnSpc>
              <a:spcAft>
                <a:spcPts val="0"/>
              </a:spcAft>
            </a:pPr>
            <a:r>
              <a:rPr sz="13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撤回・古い決定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37215" y="3767328"/>
            <a:ext cx="731520" cy="310896"/>
          </a:xfrm>
          <a:prstGeom prst="roundRect">
            <a:avLst/>
          </a:prstGeom>
          <a:solidFill>
            <a:srgbClr val="E1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37215" y="3767328"/>
            <a:ext cx="73152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</a:pPr>
            <a:r>
              <a:rPr sz="1100" b="1">
                <a:solidFill>
                  <a:srgbClr val="1D7A5F"/>
                </a:solidFill>
                <a:latin typeface="Yu Gothic"/>
                <a:ea typeface="Yu Gothic"/>
                <a:cs typeface="Yu Gothic"/>
              </a:rPr>
              <a:t>共有可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315968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1">
                <a:solidFill>
                  <a:srgbClr val="18212B"/>
                </a:solidFill>
                <a:latin typeface="Consolas"/>
                <a:ea typeface="Consolas"/>
                <a:cs typeface="Consolas"/>
              </a:rPr>
              <a:t>raw/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315968"/>
            <a:ext cx="1280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490"/>
              </a:lnSpc>
              <a:spcAft>
                <a:spcPts val="0"/>
              </a:spcAft>
            </a:pPr>
            <a:r>
              <a:rPr sz="13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対話の原文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637215" y="4443983"/>
            <a:ext cx="731520" cy="310896"/>
          </a:xfrm>
          <a:prstGeom prst="roundRect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37215" y="4443983"/>
            <a:ext cx="73152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</a:pPr>
            <a:r>
              <a:rPr sz="1100" b="1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無視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992624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1">
                <a:solidFill>
                  <a:srgbClr val="18212B"/>
                </a:solidFill>
                <a:latin typeface="Consolas"/>
                <a:ea typeface="Consolas"/>
                <a:cs typeface="Consolas"/>
              </a:rPr>
              <a:t>state/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4992624"/>
            <a:ext cx="1280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490"/>
              </a:lnSpc>
              <a:spcAft>
                <a:spcPts val="0"/>
              </a:spcAft>
            </a:pPr>
            <a:r>
              <a:rPr sz="13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内部状態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637215" y="5120640"/>
            <a:ext cx="731520" cy="310896"/>
          </a:xfrm>
          <a:prstGeom prst="roundRect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37215" y="5120640"/>
            <a:ext cx="73152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</a:pPr>
            <a:r>
              <a:rPr sz="1100" b="1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無視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5532120"/>
            <a:ext cx="44650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</a:pPr>
            <a:r>
              <a:rPr sz="1100" b="0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「無視」は git の管理外(自動で .gitignore を作成)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</a:pPr>
            <a:r>
              <a:rPr sz="2800" b="1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使い方: 普段は何もしない。手動なら4つのコマンド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19" y="1298448"/>
            <a:ext cx="1005840" cy="4572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1000" b="0">
                <a:solidFill>
                  <a:srgbClr val="586473"/>
                </a:solidFill>
                <a:latin typeface="Consolas"/>
                <a:ea typeface="Consolas"/>
                <a:cs typeface="Consolas"/>
              </a:rPr>
              <a:t>context-keeper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</a:pPr>
            <a:r>
              <a:rPr sz="1000" b="0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0911535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91640"/>
            <a:ext cx="47548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0">
                <a:solidFill>
                  <a:srgbClr val="586473"/>
                </a:solidFill>
                <a:latin typeface="Consolas"/>
                <a:ea typeface="Consolas"/>
                <a:cs typeface="Consolas"/>
              </a:rPr>
              <a:t>/context-keeper </a:t>
            </a:r>
            <a:r>
              <a:rPr sz="1400" b="1">
                <a:solidFill>
                  <a:srgbClr val="1F5F8B"/>
                </a:solidFill>
                <a:latin typeface="Consolas"/>
                <a:ea typeface="Consolas"/>
                <a:cs typeface="Consolas"/>
              </a:rPr>
              <a:t>save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691640"/>
            <a:ext cx="569945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80"/>
              </a:lnSpc>
              <a:spcAft>
                <a:spcPts val="0"/>
              </a:spcAft>
            </a:pPr>
            <a:r>
              <a:rPr sz="15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今の会話のニュアンスをノートに保存する(引数なしでも同じ)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60320"/>
            <a:ext cx="10911535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560320"/>
            <a:ext cx="47548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0">
                <a:solidFill>
                  <a:srgbClr val="586473"/>
                </a:solidFill>
                <a:latin typeface="Consolas"/>
                <a:ea typeface="Consolas"/>
                <a:cs typeface="Consolas"/>
              </a:rPr>
              <a:t>/context-keeper </a:t>
            </a:r>
            <a:r>
              <a:rPr sz="1400" b="1">
                <a:solidFill>
                  <a:srgbClr val="1F5F8B"/>
                </a:solidFill>
                <a:latin typeface="Consolas"/>
                <a:ea typeface="Consolas"/>
                <a:cs typeface="Consolas"/>
              </a:rPr>
              <a:t>restore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560320"/>
            <a:ext cx="569945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80"/>
              </a:lnSpc>
              <a:spcAft>
                <a:spcPts val="0"/>
              </a:spcAft>
            </a:pPr>
            <a:r>
              <a:rPr sz="15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再開カードとノートを読み戻す。細部が要るときだけ原文を検索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29000"/>
            <a:ext cx="10911535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29000"/>
            <a:ext cx="47548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0">
                <a:solidFill>
                  <a:srgbClr val="586473"/>
                </a:solidFill>
                <a:latin typeface="Consolas"/>
                <a:ea typeface="Consolas"/>
                <a:cs typeface="Consolas"/>
              </a:rPr>
              <a:t>/context-keeper </a:t>
            </a:r>
            <a:r>
              <a:rPr sz="1400" b="1">
                <a:solidFill>
                  <a:srgbClr val="1F5F8B"/>
                </a:solidFill>
                <a:latin typeface="Consolas"/>
                <a:ea typeface="Consolas"/>
                <a:cs typeface="Consolas"/>
              </a:rPr>
              <a:t>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429000"/>
            <a:ext cx="569945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80"/>
              </a:lnSpc>
              <a:spcAft>
                <a:spcPts val="0"/>
              </a:spcAft>
            </a:pPr>
            <a:r>
              <a:rPr sz="15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使用率、ノートの鮮度、フックの登録状況を表示する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97679"/>
            <a:ext cx="10911535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297679"/>
            <a:ext cx="47548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0">
                <a:solidFill>
                  <a:srgbClr val="586473"/>
                </a:solidFill>
                <a:latin typeface="Consolas"/>
                <a:ea typeface="Consolas"/>
                <a:cs typeface="Consolas"/>
              </a:rPr>
              <a:t>/context-keeper </a:t>
            </a:r>
            <a:r>
              <a:rPr sz="1400" b="1">
                <a:solidFill>
                  <a:srgbClr val="1F5F8B"/>
                </a:solidFill>
                <a:latin typeface="Consolas"/>
                <a:ea typeface="Consolas"/>
                <a:cs typeface="Consolas"/>
              </a:rPr>
              <a:t>rollup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297679"/>
            <a:ext cx="569945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80"/>
              </a:lnSpc>
              <a:spcAft>
                <a:spcPts val="0"/>
              </a:spcAft>
            </a:pPr>
            <a:r>
              <a:rPr sz="15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決定ログの整理を手動で実行(保存のたびに自動でも実行される)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303520"/>
            <a:ext cx="10911535" cy="822960"/>
          </a:xfrm>
          <a:prstGeom prst="rect">
            <a:avLst/>
          </a:prstGeom>
          <a:solidFill>
            <a:srgbClr val="E3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303520"/>
            <a:ext cx="73152" cy="82296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1045433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</a:pPr>
            <a:r>
              <a:rPr sz="17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言葉で頼んでもよい:  「今の文脈を残して」  「圧縮前に保存して」  「前回の続きから」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</a:pPr>
            <a:r>
              <a:rPr sz="2800" b="1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導入: clone して、必要ならフックを入れる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19" y="1298448"/>
            <a:ext cx="1005840" cy="4572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1000" b="0">
                <a:solidFill>
                  <a:srgbClr val="586473"/>
                </a:solidFill>
                <a:latin typeface="Consolas"/>
                <a:ea typeface="Consolas"/>
                <a:cs typeface="Consolas"/>
              </a:rPr>
              <a:t>context-keeper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</a:pPr>
            <a:r>
              <a:rPr sz="1000" b="0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</a:pPr>
            <a:r>
              <a:rPr sz="1800" b="1">
                <a:solidFill>
                  <a:srgbClr val="1F5F8B"/>
                </a:solidFill>
                <a:latin typeface="Yu Gothic"/>
                <a:ea typeface="Yu Gothic"/>
                <a:cs typeface="Yu Gothic"/>
              </a:rPr>
              <a:t>1  スキル本体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0911535" cy="914400"/>
          </a:xfrm>
          <a:prstGeom prst="rect">
            <a:avLst/>
          </a:prstGeom>
          <a:solidFill>
            <a:srgbClr val="EEF1F5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2057400"/>
            <a:ext cx="107286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8212B"/>
                </a:solidFill>
                <a:latin typeface="Consolas"/>
                <a:ea typeface="Consolas"/>
                <a:cs typeface="Consolas"/>
              </a:rPr>
              <a:t>git clone https://github.com/ryuga-chiba/context-keeper \</a:t>
            </a:r>
          </a:p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8212B"/>
                </a:solidFill>
                <a:latin typeface="Consolas"/>
                <a:ea typeface="Consolas"/>
                <a:cs typeface="Consolas"/>
              </a:rPr>
              <a:t>    ~/.claude/skills/context-keeper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</a:pPr>
            <a:r>
              <a:rPr sz="1800" b="1">
                <a:solidFill>
                  <a:srgbClr val="1F5F8B"/>
                </a:solidFill>
                <a:latin typeface="Yu Gothic"/>
                <a:ea typeface="Yu Gothic"/>
                <a:cs typeface="Yu Gothic"/>
              </a:rPr>
              <a:t>2  フック(自動化したい人だけ・1回)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66160"/>
            <a:ext cx="10911535" cy="914400"/>
          </a:xfrm>
          <a:prstGeom prst="rect">
            <a:avLst/>
          </a:prstGeom>
          <a:solidFill>
            <a:srgbClr val="EEF1F5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3611879"/>
            <a:ext cx="107286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8212B"/>
                </a:solidFill>
                <a:latin typeface="Consolas"/>
                <a:ea typeface="Consolas"/>
                <a:cs typeface="Consolas"/>
              </a:rPr>
              <a:t>python3 ~/.claude/skills/context-keeper/scripts/ck.py install-hooks --dry-run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8212B"/>
                </a:solidFill>
                <a:latin typeface="Consolas"/>
                <a:ea typeface="Consolas"/>
                <a:cs typeface="Consolas"/>
              </a:rPr>
              <a:t>python3 ~/.claude/skills/context-keeper/scripts/ck.py install-hooks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100" b="0">
                <a:solidFill>
                  <a:srgbClr val="586473"/>
                </a:solidFill>
                <a:latin typeface="Consolas"/>
                <a:ea typeface="Consolas"/>
                <a:cs typeface="Consolas"/>
              </a:rPr>
              <a:t>Windows PowerShell では、~ の代わりに $HOME を使う:  python "$HOME\.claude\skills\context-keeper\scripts\ck.py" install-hooks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257800"/>
            <a:ext cx="345429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285232"/>
            <a:ext cx="317997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</a:pPr>
            <a:r>
              <a:rPr sz="1200" b="1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外す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96128"/>
            <a:ext cx="317997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89"/>
              </a:lnSpc>
              <a:spcAft>
                <a:spcPts val="0"/>
              </a:spcAft>
            </a:pPr>
            <a:r>
              <a:rPr sz="1300" b="1">
                <a:solidFill>
                  <a:srgbClr val="18212B"/>
                </a:solidFill>
                <a:latin typeface="Consolas"/>
                <a:ea typeface="Consolas"/>
                <a:cs typeface="Consolas"/>
              </a:rPr>
              <a:t>uninstall-hooks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7258" y="5257800"/>
            <a:ext cx="345429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4418" y="5285232"/>
            <a:ext cx="317997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</a:pPr>
            <a:r>
              <a:rPr sz="1200" b="1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このプロジェクトだけ止める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4418" y="5596128"/>
            <a:ext cx="317997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89"/>
              </a:lnSpc>
              <a:spcAft>
                <a:spcPts val="0"/>
              </a:spcAft>
            </a:pPr>
            <a:r>
              <a:rPr sz="1300" b="1">
                <a:solidFill>
                  <a:srgbClr val="18212B"/>
                </a:solidFill>
                <a:latin typeface="Consolas"/>
                <a:ea typeface="Consolas"/>
                <a:cs typeface="Consolas"/>
              </a:rPr>
              <a:t>disable  (再開は enable)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14436" y="5257800"/>
            <a:ext cx="345429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51596" y="5285232"/>
            <a:ext cx="317997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</a:pPr>
            <a:r>
              <a:rPr sz="1200" b="1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動作確認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1596" y="5596128"/>
            <a:ext cx="317997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89"/>
              </a:lnSpc>
              <a:spcAft>
                <a:spcPts val="0"/>
              </a:spcAft>
            </a:pPr>
            <a:r>
              <a:rPr sz="1300" b="1">
                <a:solidFill>
                  <a:srgbClr val="18212B"/>
                </a:solidFill>
                <a:latin typeface="Consolas"/>
                <a:ea typeface="Consolas"/>
                <a:cs typeface="Consolas"/>
              </a:rPr>
              <a:t>--self-test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</a:pPr>
            <a:r>
              <a:rPr sz="2800" b="1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設計の判断: 公式ドキュメントで確かめて決めた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19" y="1298448"/>
            <a:ext cx="1005840" cy="4572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1000" b="0">
                <a:solidFill>
                  <a:srgbClr val="586473"/>
                </a:solidFill>
                <a:latin typeface="Consolas"/>
                <a:ea typeface="Consolas"/>
                <a:cs typeface="Consolas"/>
              </a:rPr>
              <a:t>context-keeper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</a:pPr>
            <a:r>
              <a:rPr sz="1000" b="0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0911535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91640"/>
            <a:ext cx="41148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500" b="1">
                <a:solidFill>
                  <a:srgbClr val="1F5F8B"/>
                </a:solidFill>
                <a:latin typeface="Yu Gothic"/>
                <a:ea typeface="Yu Gothic"/>
                <a:cs typeface="Yu Gothic"/>
              </a:rPr>
              <a:t>圧縮そのものは本体に任せる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691640"/>
            <a:ext cx="6339535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スキルから /compact は実行できない。介入できるのは前後のフックだけ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69464"/>
            <a:ext cx="10911535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569464"/>
            <a:ext cx="41148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500" b="1">
                <a:solidFill>
                  <a:srgbClr val="1F5F8B"/>
                </a:solidFill>
                <a:latin typeface="Yu Gothic"/>
                <a:ea typeface="Yu Gothic"/>
                <a:cs typeface="Yu Gothic"/>
              </a:rPr>
              <a:t>フックはプラグインにしない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569464"/>
            <a:ext cx="6339535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WSL 上のデスクトップ版では、プラグインが使えない。settings.json に登録する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47288"/>
            <a:ext cx="10911535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47288"/>
            <a:ext cx="41148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500" b="1">
                <a:solidFill>
                  <a:srgbClr val="1F5F8B"/>
                </a:solidFill>
                <a:latin typeface="Yu Gothic"/>
                <a:ea typeface="Yu Gothic"/>
                <a:cs typeface="Yu Gothic"/>
              </a:rPr>
              <a:t>ノートは .claude/ ではなく .context-keeper/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447288"/>
            <a:ext cx="6339535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.claude/ は保護パスで、書き込むたびに許可を求められる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325112"/>
            <a:ext cx="10911535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325112"/>
            <a:ext cx="41148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500" b="1">
                <a:solidFill>
                  <a:srgbClr val="1F5F8B"/>
                </a:solidFill>
                <a:latin typeface="Yu Gothic"/>
                <a:ea typeface="Yu Gothic"/>
                <a:cs typeface="Yu Gothic"/>
              </a:rPr>
              <a:t>使用率はフックが計算する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325112"/>
            <a:ext cx="6339535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Claude 自身は使用率を正確に知らない。会話ログのトークン数から算出する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02936"/>
            <a:ext cx="10911535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5202936"/>
            <a:ext cx="41148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500" b="1">
                <a:solidFill>
                  <a:srgbClr val="1F5F8B"/>
                </a:solidFill>
                <a:latin typeface="Yu Gothic"/>
                <a:ea typeface="Yu Gothic"/>
                <a:cs typeface="Yu Gothic"/>
              </a:rPr>
              <a:t>再注入は SessionStart(compact)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202936"/>
            <a:ext cx="6339535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圧縮後の文脈に出力を足せる公式の方法。PostCompact の出力は入らない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</a:pPr>
            <a:r>
              <a:rPr sz="2800" b="1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完成度: 実装とテストは済み。実機の確認がまだ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19" y="1298448"/>
            <a:ext cx="1005840" cy="4572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1000" b="0">
                <a:solidFill>
                  <a:srgbClr val="586473"/>
                </a:solidFill>
                <a:latin typeface="Consolas"/>
                <a:ea typeface="Consolas"/>
                <a:cs typeface="Consolas"/>
              </a:rPr>
              <a:t>context-keeper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</a:pPr>
            <a:r>
              <a:rPr sz="1000" b="0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3454298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454298" cy="640080"/>
          </a:xfrm>
          <a:prstGeom prst="rect">
            <a:avLst/>
          </a:prstGeom>
          <a:solidFill>
            <a:srgbClr val="E1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91640"/>
            <a:ext cx="308853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</a:pPr>
            <a:r>
              <a:rPr sz="1800" b="1">
                <a:solidFill>
                  <a:srgbClr val="1D7A5F"/>
                </a:solidFill>
                <a:latin typeface="Yu Gothic"/>
                <a:ea typeface="Yu Gothic"/>
                <a:cs typeface="Yu Gothic"/>
              </a:rPr>
              <a:t>済んでいること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68880"/>
            <a:ext cx="3088538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750"/>
              </a:lnSpc>
              <a:spcAft>
                <a:spcPts val="800"/>
              </a:spcAft>
            </a:pPr>
            <a:r>
              <a:rPr sz="14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・スキル本体・フック・導入コマンドの実装</a:t>
            </a:r>
          </a:p>
          <a:p>
            <a:pPr algn="l">
              <a:lnSpc>
                <a:spcPts val="1750"/>
              </a:lnSpc>
              <a:spcAft>
                <a:spcPts val="800"/>
              </a:spcAft>
            </a:pPr>
            <a:r>
              <a:rPr sz="14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・自己テスト約 90 項目(Python 3.12)</a:t>
            </a:r>
          </a:p>
          <a:p>
            <a:pPr algn="l">
              <a:lnSpc>
                <a:spcPts val="1750"/>
              </a:lnSpc>
              <a:spcAft>
                <a:spcPts val="800"/>
              </a:spcAft>
            </a:pPr>
            <a:r>
              <a:rPr sz="14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・実際の会話ログで、全フックの呼び出しを確認</a:t>
            </a:r>
          </a:p>
          <a:p>
            <a:pPr algn="l">
              <a:lnSpc>
                <a:spcPts val="1750"/>
              </a:lnSpc>
              <a:spcAft>
                <a:spcPts val="800"/>
              </a:spcAft>
            </a:pPr>
            <a:r>
              <a:rPr sz="14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・レビュー2回。確認された指摘はすべて修正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8698" y="1691640"/>
            <a:ext cx="3454298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8698" y="1691640"/>
            <a:ext cx="3454298" cy="640080"/>
          </a:xfrm>
          <a:prstGeom prst="rect">
            <a:avLst/>
          </a:prstGeom>
          <a:solidFill>
            <a:srgbClr val="FBF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1578" y="1691640"/>
            <a:ext cx="308853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</a:pPr>
            <a:r>
              <a:rPr sz="1800" b="1">
                <a:solidFill>
                  <a:srgbClr val="9A6A00"/>
                </a:solidFill>
                <a:latin typeface="Yu Gothic"/>
                <a:ea typeface="Yu Gothic"/>
                <a:cs typeface="Yu Gothic"/>
              </a:rPr>
              <a:t>残っていること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1578" y="2468880"/>
            <a:ext cx="3088538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750"/>
              </a:lnSpc>
              <a:spcAft>
                <a:spcPts val="800"/>
              </a:spcAft>
            </a:pPr>
            <a:r>
              <a:rPr sz="14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・デスクトップ版 v2.1.286 での実機確認</a:t>
            </a:r>
          </a:p>
          <a:p>
            <a:pPr algn="l">
              <a:lnSpc>
                <a:spcPts val="1750"/>
              </a:lnSpc>
              <a:spcAft>
                <a:spcPts val="800"/>
              </a:spcAft>
            </a:pPr>
            <a:r>
              <a:rPr sz="14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・Windows と macOS での確認</a:t>
            </a:r>
          </a:p>
          <a:p>
            <a:pPr algn="l">
              <a:lnSpc>
                <a:spcPts val="1750"/>
              </a:lnSpc>
              <a:spcAft>
                <a:spcPts val="800"/>
              </a:spcAft>
            </a:pPr>
            <a:r>
              <a:rPr sz="14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・最後の修正後の再レビュー</a:t>
            </a:r>
          </a:p>
          <a:p>
            <a:pPr algn="l">
              <a:lnSpc>
                <a:spcPts val="1750"/>
              </a:lnSpc>
              <a:spcAft>
                <a:spcPts val="800"/>
              </a:spcAft>
            </a:pPr>
            <a:r>
              <a:rPr sz="14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・確認結果を反映した改善と、Issue / PR の受け付け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7316" y="1691640"/>
            <a:ext cx="3454298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7316" y="1691640"/>
            <a:ext cx="3454298" cy="640080"/>
          </a:xfrm>
          <a:prstGeom prst="rect">
            <a:avLst/>
          </a:prstGeom>
          <a:solidFill>
            <a:srgbClr val="F8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0196" y="1691640"/>
            <a:ext cx="308853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</a:pPr>
            <a:r>
              <a:rPr sz="1800" b="1">
                <a:solidFill>
                  <a:srgbClr val="B4432B"/>
                </a:solidFill>
                <a:latin typeface="Yu Gothic"/>
                <a:ea typeface="Yu Gothic"/>
                <a:cs typeface="Yu Gothic"/>
              </a:rPr>
              <a:t>分かっている制約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0196" y="2468880"/>
            <a:ext cx="3088538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750"/>
              </a:lnSpc>
              <a:spcAft>
                <a:spcPts val="800"/>
              </a:spcAft>
            </a:pPr>
            <a:r>
              <a:rPr sz="14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・Windows で PowerShell ツールから実行すると、毎回許可を求められる</a:t>
            </a:r>
          </a:p>
          <a:p>
            <a:pPr algn="l">
              <a:lnSpc>
                <a:spcPts val="1750"/>
              </a:lnSpc>
              <a:spcAft>
                <a:spcPts val="800"/>
              </a:spcAft>
            </a:pPr>
            <a:r>
              <a:rPr sz="14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・decisions.md は直接直さず、ノートを直す</a:t>
            </a:r>
          </a:p>
          <a:p>
            <a:pPr algn="l">
              <a:lnSpc>
                <a:spcPts val="1750"/>
              </a:lnSpc>
              <a:spcAft>
                <a:spcPts val="800"/>
              </a:spcAft>
            </a:pPr>
            <a:r>
              <a:rPr sz="1400" b="0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・使用率の基準は推定(起動時の --autocompact は学習するまで見えない)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</a:pPr>
            <a:r>
              <a:rPr sz="2800" b="1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まとめ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19" y="1298448"/>
            <a:ext cx="1005840" cy="4572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1000" b="0">
                <a:solidFill>
                  <a:srgbClr val="586473"/>
                </a:solidFill>
                <a:latin typeface="Consolas"/>
                <a:ea typeface="Consolas"/>
                <a:cs typeface="Consolas"/>
              </a:rPr>
              <a:t>context-keeper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</a:pPr>
            <a:r>
              <a:rPr sz="1000" b="0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0911535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73152" cy="102412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1764792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</a:pPr>
            <a:r>
              <a:rPr sz="2000" b="1">
                <a:solidFill>
                  <a:srgbClr val="1F5F8B"/>
                </a:solidFill>
                <a:latin typeface="Yu Gothic"/>
                <a:ea typeface="Yu Gothic"/>
                <a:cs typeface="Yu Gothic"/>
              </a:rPr>
              <a:t>残すのは、要約で落ちるものだけ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2221992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500" b="0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決定の理由・却下した案・あなたの訂正・制約・用語・途中状態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80360"/>
            <a:ext cx="10911535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880360"/>
            <a:ext cx="73152" cy="102412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19" y="2953512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</a:pPr>
            <a:r>
              <a:rPr sz="2000" b="1">
                <a:solidFill>
                  <a:srgbClr val="1F5F8B"/>
                </a:solidFill>
                <a:latin typeface="Yu Gothic"/>
                <a:ea typeface="Yu Gothic"/>
                <a:cs typeface="Yu Gothic"/>
              </a:rPr>
              <a:t>前後の自動化はフック、中身は 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19" y="3410712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500" b="0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圧縮の前に通知と退避、圧縮の後に再開カードを自動で注入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69080"/>
            <a:ext cx="10911535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069080"/>
            <a:ext cx="73152" cy="102412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19" y="4142232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</a:pPr>
            <a:r>
              <a:rPr sz="2000" b="1">
                <a:solidFill>
                  <a:srgbClr val="1F5F8B"/>
                </a:solidFill>
                <a:latin typeface="Yu Gothic"/>
                <a:ea typeface="Yu Gothic"/>
                <a:cs typeface="Yu Gothic"/>
              </a:rPr>
              <a:t>増え続けない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19" y="4599432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500" b="0">
                <a:solidFill>
                  <a:srgbClr val="586473"/>
                </a:solidFill>
                <a:latin typeface="Yu Gothic"/>
                <a:ea typeface="Yu Gothic"/>
                <a:cs typeface="Yu Gothic"/>
              </a:rPr>
              <a:t>CLAUDE.md は変更しない。ノートは上限付きで、古い決定は1行にして archive 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349240"/>
            <a:ext cx="10911535" cy="777240"/>
          </a:xfrm>
          <a:prstGeom prst="rect">
            <a:avLst/>
          </a:prstGeom>
          <a:solidFill>
            <a:srgbClr val="E3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49240"/>
            <a:ext cx="1045433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</a:pPr>
            <a:r>
              <a:rPr sz="1600" b="1">
                <a:solidFill>
                  <a:srgbClr val="18212B"/>
                </a:solidFill>
                <a:latin typeface="Yu Gothic"/>
                <a:ea typeface="Yu Gothic"/>
                <a:cs typeface="Yu Gothic"/>
              </a:rPr>
              <a:t>次にやること:  実機で通しの確認  →  Windows / macOS の確認  →  結果を反映して改善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context-keeper ガイド</dc:title>
  <dc:subject/>
  <dc:creator>ryuga-chiba</dc:creator>
  <cp:keywords/>
  <dc:description/>
  <cp:lastModifiedBy>ryuga-chiba</cp:lastModifiedBy>
  <cp:revision>1</cp:revision>
  <dcterms:created xsi:type="dcterms:W3CDTF">2013-01-27T09:14:16Z</dcterms:created>
  <dcterms:modified xsi:type="dcterms:W3CDTF">2013-01-27T09:15:58Z</dcterms:modified>
  <cp:category/>
</cp:coreProperties>
</file>